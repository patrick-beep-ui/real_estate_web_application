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system was extracted from the live codebase, not invented. Every value traces to a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parts. Foundations are non-negotiable; patterns are compositions you can extend.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Foundations are fixed. Nothing new gets added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Amber is the only accent. Two surfaces, one border. Everything else is text opacity.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Gradient is for text only. The glow is the only shadow amber 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 only. Marketing headlines are 800; blog headings step down to 700.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12px is the default radius for almost everything. Sections breathe at 64-96px.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keyframes, two durations. Motion is functional — reveal, marquee, disclose.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lucide-react only, 2px stroke. Never draw a custom icon.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Components are shadcn-based but re-skinned. Marketing CTAs are custom.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CTA block pairs text and call. Primary is flat amber with black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Three-step lead form. Inputs sit on the secondary fill, 48px tall.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Depth comes from the border, not shadow. Ratings always link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Disclosure is hairline rows, not cards. Toasts are the only place with a real shadow.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Patterns are compositions. This is where the testimonials module will plug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base the new module extends: video facade above, written quotes below, CTA between.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column is amber and bold; competitors stay muted. Agent figures are per-market.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guarantees, always four. The logo strip is the one non-token background allowed.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only tinted surfaces in the system. Every case study carries the disclaimer.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is transparent at top, blurs after 50px. Footer holds all the legal 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surfaces that intentionally deviate: blog headings drop to 700, admin uses shadcn defaults.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new module breaks one of these, it's not on-system.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legacy deviation, documented so nobody copies it into new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svg"/><Relationship Id="rId4" Type="http://schemas.openxmlformats.org/officeDocument/2006/relationships/image" Target="../media/image-16-4.jpe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jpeg"/><Relationship Id="rId8" Type="http://schemas.openxmlformats.org/officeDocument/2006/relationships/image" Target="../media/image-16-8.png"/><Relationship Id="rId9" Type="http://schemas.openxmlformats.org/officeDocument/2006/relationships/image" Target="../media/image-16-9.sv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sv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sv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svg"/><Relationship Id="rId16" Type="http://schemas.openxmlformats.org/officeDocument/2006/relationships/image" Target="../media/image-16-16.png"/><Relationship Id="rId17" Type="http://schemas.openxmlformats.org/officeDocument/2006/relationships/image" Target="../media/image-16-17.svg"/><Relationship Id="rId18" Type="http://schemas.openxmlformats.org/officeDocument/2006/relationships/image" Target="../media/image-16-18.png"/><Relationship Id="rId19" Type="http://schemas.openxmlformats.org/officeDocument/2006/relationships/image" Target="../media/image-16-19.svg"/><Relationship Id="rId20" Type="http://schemas.openxmlformats.org/officeDocument/2006/relationships/image" Target="../media/image-16-20.png"/><Relationship Id="rId21" Type="http://schemas.openxmlformats.org/officeDocument/2006/relationships/image" Target="../media/image-16-21.svg"/><Relationship Id="rId22" Type="http://schemas.openxmlformats.org/officeDocument/2006/relationships/image" Target="../media/image-16-22.png"/><Relationship Id="rId23" Type="http://schemas.openxmlformats.org/officeDocument/2006/relationships/image" Target="../media/image-16-23.svg"/><Relationship Id="rId24" Type="http://schemas.openxmlformats.org/officeDocument/2006/relationships/image" Target="../media/image-16-24.png"/><Relationship Id="rId25" Type="http://schemas.openxmlformats.org/officeDocument/2006/relationships/image" Target="../media/image-16-25.svg"/><Relationship Id="rId26" Type="http://schemas.openxmlformats.org/officeDocument/2006/relationships/image" Target="../media/image-16-26.png"/><Relationship Id="rId27" Type="http://schemas.openxmlformats.org/officeDocument/2006/relationships/image" Target="../media/image-16-27.svg"/><Relationship Id="rId28" Type="http://schemas.openxmlformats.org/officeDocument/2006/relationships/image" Target="../media/image-16-28.png"/><Relationship Id="rId29" Type="http://schemas.openxmlformats.org/officeDocument/2006/relationships/image" Target="../media/image-16-29.svg"/><Relationship Id="rId30" Type="http://schemas.openxmlformats.org/officeDocument/2006/relationships/image" Target="../media/image-16-30.png"/><Relationship Id="rId31" Type="http://schemas.openxmlformats.org/officeDocument/2006/relationships/image" Target="../media/image-16-31.svg"/><Relationship Id="rId32" Type="http://schemas.openxmlformats.org/officeDocument/2006/relationships/image" Target="../media/image-16-32.png"/><Relationship Id="rId33" Type="http://schemas.openxmlformats.org/officeDocument/2006/relationships/image" Target="../media/image-16-33.svg"/><Relationship Id="rId34" Type="http://schemas.openxmlformats.org/officeDocument/2006/relationships/image" Target="../media/image-16-34.png"/><Relationship Id="rId35" Type="http://schemas.openxmlformats.org/officeDocument/2006/relationships/image" Target="../media/image-16-35.svg"/><Relationship Id="rId36" Type="http://schemas.openxmlformats.org/officeDocument/2006/relationships/image" Target="../media/image-16-36.png"/><Relationship Id="rId37" Type="http://schemas.openxmlformats.org/officeDocument/2006/relationships/image" Target="../media/image-16-37.svg"/><Relationship Id="rId38" Type="http://schemas.openxmlformats.org/officeDocument/2006/relationships/image" Target="../media/image-16-38.png"/><Relationship Id="rId39" Type="http://schemas.openxmlformats.org/officeDocument/2006/relationships/image" Target="../media/image-16-39.svg"/><Relationship Id="rId40" Type="http://schemas.openxmlformats.org/officeDocument/2006/relationships/slideLayout" Target="../slideLayouts/slideLayout1.xml"/><Relationship Id="rId41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webp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webp"/><Relationship Id="rId2" Type="http://schemas.openxmlformats.org/officeDocument/2006/relationships/image" Target="../media/image-20-2.png"/><Relationship Id="rId3" Type="http://schemas.openxmlformats.org/officeDocument/2006/relationships/image" Target="../media/image-20-3.svg"/><Relationship Id="rId4" Type="http://schemas.openxmlformats.org/officeDocument/2006/relationships/image" Target="../media/image-20-4.webp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1685925"/>
            <a:ext cx="2031950" cy="838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2943225"/>
            <a:ext cx="16874490" cy="255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500"/>
              </a:lnSpc>
              <a:buNone/>
            </a:pPr>
            <a:r>
              <a:rPr lang="en-US" sz="9900" b="1" spc="-29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TBH Main Design System</a:t>
            </a:r>
            <a:endParaRPr lang="en-US" sz="9900" dirty="0"/>
          </a:p>
        </p:txBody>
      </p:sp>
      <p:sp>
        <p:nvSpPr>
          <p:cNvPr id="4" name="Text 1"/>
          <p:cNvSpPr/>
          <p:nvPr/>
        </p:nvSpPr>
        <p:spPr>
          <a:xfrm>
            <a:off x="952500" y="5876925"/>
            <a:ext cx="11772900" cy="1666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13"/>
              </a:lnSpc>
              <a:buNone/>
            </a:pPr>
            <a:r>
              <a:rPr lang="en-US" sz="28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Extracted from the tarekbuyshouses.com codebase. Every token, component and pattern below traces to a real source file — nothing here is invented.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>
            <a:off x="952500" y="8077200"/>
            <a:ext cx="788789" cy="523875"/>
          </a:xfrm>
          <a:prstGeom prst="roundRect">
            <a:avLst>
              <a:gd name="adj" fmla="val 50000"/>
            </a:avLst>
          </a:prstGeom>
          <a:solidFill>
            <a:srgbClr val="F59F0A"/>
          </a:solidFill>
          <a:ln/>
        </p:spPr>
      </p:sp>
      <p:sp>
        <p:nvSpPr>
          <p:cNvPr id="6" name="Text 3"/>
          <p:cNvSpPr/>
          <p:nvPr/>
        </p:nvSpPr>
        <p:spPr>
          <a:xfrm>
            <a:off x="1219200" y="8191500"/>
            <a:ext cx="3315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931789" y="8191500"/>
            <a:ext cx="56935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Foundations · Components · Patterns · Rules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11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inside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324100"/>
            <a:ext cx="8058150" cy="2244030"/>
          </a:xfrm>
          <a:prstGeom prst="roundRect">
            <a:avLst>
              <a:gd name="adj" fmla="val 679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81125" y="2752725"/>
            <a:ext cx="79209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381125" y="3200400"/>
            <a:ext cx="7416927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44"/>
              </a:lnSpc>
              <a:buNone/>
            </a:pPr>
            <a:r>
              <a:rPr lang="en-US" sz="25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Color, typography, radius, spacing, motion, iconography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277350" y="2324100"/>
            <a:ext cx="8058150" cy="2244030"/>
          </a:xfrm>
          <a:prstGeom prst="roundRect">
            <a:avLst>
              <a:gd name="adj" fmla="val 679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05975" y="2752725"/>
            <a:ext cx="79209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705975" y="3200400"/>
            <a:ext cx="7416927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44"/>
              </a:lnSpc>
              <a:buNone/>
            </a:pPr>
            <a:r>
              <a:rPr lang="en-US" sz="25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Buttons, inputs, cards, badges, disclosure, toasts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52500" y="4834830"/>
            <a:ext cx="8058150" cy="2244030"/>
          </a:xfrm>
          <a:prstGeom prst="roundRect">
            <a:avLst>
              <a:gd name="adj" fmla="val 679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81125" y="5263455"/>
            <a:ext cx="79209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381125" y="5711130"/>
            <a:ext cx="7416927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44"/>
              </a:lnSpc>
              <a:buNone/>
            </a:pPr>
            <a:r>
              <a:rPr lang="en-US" sz="25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Testimonials, comparison, trust marks, case studies, chrome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277350" y="4834830"/>
            <a:ext cx="8058150" cy="2244030"/>
          </a:xfrm>
          <a:prstGeom prst="roundRect">
            <a:avLst>
              <a:gd name="adj" fmla="val 679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05975" y="5263455"/>
            <a:ext cx="79209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705975" y="5711130"/>
            <a:ext cx="7416927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44"/>
              </a:lnSpc>
              <a:buNone/>
            </a:pPr>
            <a:r>
              <a:rPr lang="en-US" sz="25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&amp; don't, plus the one documented exception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9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00513"/>
            <a:ext cx="180213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48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ONE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52500" y="4738688"/>
            <a:ext cx="1802130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609"/>
              </a:lnSpc>
              <a:buNone/>
            </a:pPr>
            <a:r>
              <a:rPr lang="en-US" sz="11400" b="1" spc="-34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Foundations</a:t>
            </a:r>
            <a:endParaRPr lang="en-US" sz="1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81125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 tokens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628900"/>
            <a:ext cx="3924300" cy="2562225"/>
          </a:xfrm>
          <a:prstGeom prst="roundRect">
            <a:avLst>
              <a:gd name="adj" fmla="val 5948"/>
            </a:avLst>
          </a:prstGeom>
          <a:ln w="9525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2025" y="2638425"/>
            <a:ext cx="3905250" cy="1428750"/>
          </a:xfrm>
          <a:prstGeom prst="rect">
            <a:avLst/>
          </a:prstGeom>
          <a:solidFill>
            <a:srgbClr val="F59F0A"/>
          </a:solidFill>
          <a:ln/>
        </p:spPr>
      </p:sp>
      <p:sp>
        <p:nvSpPr>
          <p:cNvPr id="6" name="Shape 4"/>
          <p:cNvSpPr/>
          <p:nvPr/>
        </p:nvSpPr>
        <p:spPr>
          <a:xfrm>
            <a:off x="962025" y="4067175"/>
            <a:ext cx="3905250" cy="1114425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7" name="Text 5"/>
          <p:cNvSpPr/>
          <p:nvPr/>
        </p:nvSpPr>
        <p:spPr>
          <a:xfrm>
            <a:off x="1190625" y="4295775"/>
            <a:ext cx="37928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90625" y="4676775"/>
            <a:ext cx="37928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hsl(38 92% 50%)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05400" y="2628900"/>
            <a:ext cx="3924300" cy="2562225"/>
          </a:xfrm>
          <a:prstGeom prst="roundRect">
            <a:avLst>
              <a:gd name="adj" fmla="val 5948"/>
            </a:avLst>
          </a:prstGeom>
          <a:ln w="9525">
            <a:solidFill>
              <a:srgbClr val="2E2E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14925" y="2638425"/>
            <a:ext cx="3905250" cy="14287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Shape 9"/>
          <p:cNvSpPr/>
          <p:nvPr/>
        </p:nvSpPr>
        <p:spPr>
          <a:xfrm>
            <a:off x="5114925" y="4067175"/>
            <a:ext cx="3905250" cy="1114425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12" name="Text 10"/>
          <p:cNvSpPr/>
          <p:nvPr/>
        </p:nvSpPr>
        <p:spPr>
          <a:xfrm>
            <a:off x="5343525" y="4295775"/>
            <a:ext cx="37928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343525" y="4676775"/>
            <a:ext cx="37928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hsl(0 0% 4%)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258300" y="2628900"/>
            <a:ext cx="3924300" cy="2562225"/>
          </a:xfrm>
          <a:prstGeom prst="roundRect">
            <a:avLst>
              <a:gd name="adj" fmla="val 5948"/>
            </a:avLst>
          </a:prstGeom>
          <a:ln w="9525">
            <a:solidFill>
              <a:srgbClr val="2E2E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67825" y="2638425"/>
            <a:ext cx="3905250" cy="142875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16" name="Shape 14"/>
          <p:cNvSpPr/>
          <p:nvPr/>
        </p:nvSpPr>
        <p:spPr>
          <a:xfrm>
            <a:off x="9267825" y="4067175"/>
            <a:ext cx="3905250" cy="1114425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17" name="Text 15"/>
          <p:cNvSpPr/>
          <p:nvPr/>
        </p:nvSpPr>
        <p:spPr>
          <a:xfrm>
            <a:off x="9496425" y="4295775"/>
            <a:ext cx="37928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496425" y="4676775"/>
            <a:ext cx="37928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hsl(0 0% 7%)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411200" y="2628900"/>
            <a:ext cx="3924300" cy="2562225"/>
          </a:xfrm>
          <a:prstGeom prst="roundRect">
            <a:avLst>
              <a:gd name="adj" fmla="val 5948"/>
            </a:avLst>
          </a:prstGeom>
          <a:ln w="9525">
            <a:solidFill>
              <a:srgbClr val="2E2E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420725" y="2638425"/>
            <a:ext cx="3905250" cy="142875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1" name="Shape 19"/>
          <p:cNvSpPr/>
          <p:nvPr/>
        </p:nvSpPr>
        <p:spPr>
          <a:xfrm>
            <a:off x="13420725" y="4067175"/>
            <a:ext cx="3905250" cy="1114425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22" name="Text 20"/>
          <p:cNvSpPr/>
          <p:nvPr/>
        </p:nvSpPr>
        <p:spPr>
          <a:xfrm>
            <a:off x="13649325" y="4295775"/>
            <a:ext cx="37928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3649325" y="4676775"/>
            <a:ext cx="37928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hsl(0 0% 15%)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5419725"/>
            <a:ext cx="3924300" cy="2562225"/>
          </a:xfrm>
          <a:prstGeom prst="roundRect">
            <a:avLst>
              <a:gd name="adj" fmla="val 5948"/>
            </a:avLst>
          </a:prstGeom>
          <a:ln w="9525">
            <a:solidFill>
              <a:srgbClr val="2E2E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2025" y="5429250"/>
            <a:ext cx="3905250" cy="1428750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26" name="Shape 24"/>
          <p:cNvSpPr/>
          <p:nvPr/>
        </p:nvSpPr>
        <p:spPr>
          <a:xfrm>
            <a:off x="962025" y="6858000"/>
            <a:ext cx="3905250" cy="1114425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27" name="Text 25"/>
          <p:cNvSpPr/>
          <p:nvPr/>
        </p:nvSpPr>
        <p:spPr>
          <a:xfrm>
            <a:off x="1190625" y="7086600"/>
            <a:ext cx="37928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border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190625" y="7467600"/>
            <a:ext cx="37928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hsl(0 0% 18%)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105400" y="5419725"/>
            <a:ext cx="3924300" cy="2562225"/>
          </a:xfrm>
          <a:prstGeom prst="roundRect">
            <a:avLst>
              <a:gd name="adj" fmla="val 5948"/>
            </a:avLst>
          </a:prstGeom>
          <a:ln w="9525">
            <a:solidFill>
              <a:srgbClr val="2E2E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14925" y="5429250"/>
            <a:ext cx="3905250" cy="14287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Shape 29"/>
          <p:cNvSpPr/>
          <p:nvPr/>
        </p:nvSpPr>
        <p:spPr>
          <a:xfrm>
            <a:off x="5114925" y="6858000"/>
            <a:ext cx="3905250" cy="1114425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2" name="Text 30"/>
          <p:cNvSpPr/>
          <p:nvPr/>
        </p:nvSpPr>
        <p:spPr>
          <a:xfrm>
            <a:off x="5343525" y="7086600"/>
            <a:ext cx="37928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surface-elevated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5343525" y="7467600"/>
            <a:ext cx="37928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hsl(0 0% 10%)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258300" y="5419725"/>
            <a:ext cx="3924300" cy="2562225"/>
          </a:xfrm>
          <a:prstGeom prst="roundRect">
            <a:avLst>
              <a:gd name="adj" fmla="val 5948"/>
            </a:avLst>
          </a:prstGeom>
          <a:ln w="9525">
            <a:solidFill>
              <a:srgbClr val="2E2E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67825" y="5429250"/>
            <a:ext cx="3905250" cy="1428750"/>
          </a:xfrm>
          <a:prstGeom prst="rect">
            <a:avLst/>
          </a:prstGeom>
          <a:solidFill>
            <a:srgbClr val="16A249"/>
          </a:solidFill>
          <a:ln/>
        </p:spPr>
      </p:sp>
      <p:sp>
        <p:nvSpPr>
          <p:cNvPr id="36" name="Shape 34"/>
          <p:cNvSpPr/>
          <p:nvPr/>
        </p:nvSpPr>
        <p:spPr>
          <a:xfrm>
            <a:off x="9267825" y="6858000"/>
            <a:ext cx="3905250" cy="1114425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7" name="Text 35"/>
          <p:cNvSpPr/>
          <p:nvPr/>
        </p:nvSpPr>
        <p:spPr>
          <a:xfrm>
            <a:off x="9496425" y="7086600"/>
            <a:ext cx="37928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green-check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9496425" y="7467600"/>
            <a:ext cx="37928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hsl(142 76% 36%)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3411200" y="5419725"/>
            <a:ext cx="3924300" cy="2562225"/>
          </a:xfrm>
          <a:prstGeom prst="roundRect">
            <a:avLst>
              <a:gd name="adj" fmla="val 5948"/>
            </a:avLst>
          </a:prstGeom>
          <a:ln w="9525">
            <a:solidFill>
              <a:srgbClr val="2E2E2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420725" y="5429250"/>
            <a:ext cx="3905250" cy="1428750"/>
          </a:xfrm>
          <a:prstGeom prst="rect">
            <a:avLst/>
          </a:prstGeom>
          <a:solidFill>
            <a:srgbClr val="EF4343"/>
          </a:solidFill>
          <a:ln/>
        </p:spPr>
      </p:sp>
      <p:sp>
        <p:nvSpPr>
          <p:cNvPr id="41" name="Shape 39"/>
          <p:cNvSpPr/>
          <p:nvPr/>
        </p:nvSpPr>
        <p:spPr>
          <a:xfrm>
            <a:off x="13420725" y="6858000"/>
            <a:ext cx="3905250" cy="1114425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42" name="Text 40"/>
          <p:cNvSpPr/>
          <p:nvPr/>
        </p:nvSpPr>
        <p:spPr>
          <a:xfrm>
            <a:off x="13649325" y="7086600"/>
            <a:ext cx="37928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red-x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13649325" y="7467600"/>
            <a:ext cx="37928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hsl(0 84% 60%)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52500" y="8401050"/>
            <a:ext cx="1687449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Amber marks every action, rating and active state. Sections alternate between </a:t>
            </a:r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 </a:t>
            </a:r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</a:t>
            </a:r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</a:t>
            </a:r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there is no third surface.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81125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 treatments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628900"/>
            <a:ext cx="8790682" cy="2924175"/>
          </a:xfrm>
          <a:prstGeom prst="roundRect">
            <a:avLst>
              <a:gd name="adj" fmla="val 5212"/>
            </a:avLst>
          </a:prstGeom>
          <a:solidFill>
            <a:srgbClr val="0A0A0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9225" y="3095625"/>
            <a:ext cx="86429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Amber text gradient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19225" y="3648075"/>
            <a:ext cx="8642955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70"/>
              </a:lnSpc>
              <a:buNone/>
            </a:pPr>
            <a:r>
              <a:rPr lang="en-US" sz="5700" b="1" dirty="0">
                <a:gradFill rotWithShape="1">
                  <a:gsLst>
                    <a:gs pos="0">
                      <a:srgbClr val="F59F0A">
                        <a:alpha val="100000"/>
                      </a:srgbClr>
                    </a:gs>
                    <a:gs pos="100000">
                      <a:srgbClr val="F8C83A">
                        <a:alpha val="100000"/>
                      </a:srgbClr>
                    </a:gs>
                  </a:gsLst>
                  <a:lin ang="2700000" scaled="0"/>
                </a:gradFill>
                <a:latin typeface="Inter" pitchFamily="34" charset="0"/>
                <a:ea typeface="Inter" pitchFamily="34" charset="-122"/>
                <a:cs typeface="Inter" pitchFamily="34" charset="-120"/>
              </a:rPr>
              <a:t>Sell fast for cash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1419225" y="4672905"/>
            <a:ext cx="86429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Headline accent only. Never a panel background.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009882" y="2628900"/>
            <a:ext cx="7325618" cy="2924175"/>
          </a:xfrm>
          <a:prstGeom prst="roundRect">
            <a:avLst>
              <a:gd name="adj" fmla="val 5212"/>
            </a:avLst>
          </a:prstGeom>
          <a:solidFill>
            <a:srgbClr val="0A0A0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76607" y="3095625"/>
            <a:ext cx="70313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Amber glow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476607" y="3648075"/>
            <a:ext cx="6392168" cy="914400"/>
          </a:xfrm>
          <a:prstGeom prst="roundRect">
            <a:avLst>
              <a:gd name="adj" fmla="val 16667"/>
            </a:avLst>
          </a:prstGeom>
          <a:solidFill>
            <a:srgbClr val="F59F0A"/>
          </a:solidFill>
          <a:ln/>
          <a:effectLst>
            <a:outerShdw sx="100000" sy="100000" kx="0" ky="0" algn="bl" rotWithShape="0" blurRad="285750" dist="50800" dir="16200000">
              <a:srgbClr val="F59F0A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476607" y="4791075"/>
            <a:ext cx="70313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buttons only. Content cards carry no shadow.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52500" y="5972175"/>
            <a:ext cx="291487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foreground 100%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4135785" y="5972175"/>
            <a:ext cx="264245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74%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7071420" y="5972175"/>
            <a:ext cx="196273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muted 64%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389120" y="5972175"/>
            <a:ext cx="208927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tertiary 50%</a:t>
            </a:r>
            <a:endParaRPr lang="en-US" sz="2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81125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3676650"/>
            <a:ext cx="16383000" cy="9525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3019425"/>
            <a:ext cx="3143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 · 60/800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191000" y="2628900"/>
            <a:ext cx="689616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spc="-10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Your House Fast</a:t>
            </a:r>
            <a:endParaRPr lang="en-US" sz="5100" dirty="0"/>
          </a:p>
        </p:txBody>
      </p:sp>
      <p:sp>
        <p:nvSpPr>
          <p:cNvPr id="7" name="Shape 5"/>
          <p:cNvSpPr/>
          <p:nvPr/>
        </p:nvSpPr>
        <p:spPr>
          <a:xfrm>
            <a:off x="952500" y="4857750"/>
            <a:ext cx="16383000" cy="9525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4229100"/>
            <a:ext cx="3143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· 36/800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191000" y="3990975"/>
            <a:ext cx="3578721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952500" y="5876925"/>
            <a:ext cx="16383000" cy="9525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5286375"/>
            <a:ext cx="3143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title · 20/700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191000" y="5172075"/>
            <a:ext cx="386063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Your Cash Offer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52500" y="6943725"/>
            <a:ext cx="16383000" cy="9525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6315075"/>
            <a:ext cx="3143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· 18/1.65/muted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191000" y="6191250"/>
            <a:ext cx="81298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90"/>
              </a:lnSpc>
              <a:buNone/>
            </a:pPr>
            <a:r>
              <a:rPr lang="en-US" sz="25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sellers faced the same situation you're in.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52500" y="7296150"/>
            <a:ext cx="3143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 · 12/600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4191000" y="7258050"/>
            <a:ext cx="37522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22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PROPERTY ADDRESS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81125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Radius, spacing &amp; layout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3429000"/>
            <a:ext cx="1238250" cy="1238250"/>
          </a:xfrm>
          <a:prstGeom prst="roundRect">
            <a:avLst>
              <a:gd name="adj" fmla="val 6154"/>
            </a:avLst>
          </a:prstGeom>
          <a:solidFill>
            <a:srgbClr val="262626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54336" y="4800600"/>
            <a:ext cx="5107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8px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2533650" y="3429000"/>
            <a:ext cx="1238250" cy="1238250"/>
          </a:xfrm>
          <a:prstGeom prst="roundRect">
            <a:avLst>
              <a:gd name="adj" fmla="val 7692"/>
            </a:avLst>
          </a:prstGeom>
          <a:solidFill>
            <a:srgbClr val="262626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3545" y="4800600"/>
            <a:ext cx="61451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10px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4293394" y="3429000"/>
            <a:ext cx="1238250" cy="1238250"/>
          </a:xfrm>
          <a:prstGeom prst="roundRect">
            <a:avLst>
              <a:gd name="adj" fmla="val 9231"/>
            </a:avLst>
          </a:prstGeom>
          <a:solidFill>
            <a:srgbClr val="F59F0A">
              <a:alpha val="15000"/>
            </a:srgbClr>
          </a:solidFill>
          <a:ln w="9525">
            <a:solidFill>
              <a:srgbClr val="F59F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4800600"/>
            <a:ext cx="17551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12px · default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053286" y="3429000"/>
            <a:ext cx="1238250" cy="1238250"/>
          </a:xfrm>
          <a:prstGeom prst="roundRect">
            <a:avLst>
              <a:gd name="adj" fmla="val 12308"/>
            </a:avLst>
          </a:prstGeom>
          <a:solidFill>
            <a:srgbClr val="262626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4521" y="4800600"/>
            <a:ext cx="6118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16px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634436" y="3429000"/>
            <a:ext cx="1238250" cy="1238250"/>
          </a:xfrm>
          <a:prstGeom prst="ellipse">
            <a:avLst/>
          </a:prstGeom>
          <a:solidFill>
            <a:srgbClr val="262626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74521" y="4800600"/>
            <a:ext cx="4342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444186" y="3124200"/>
            <a:ext cx="7891314" cy="9525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15" name="Text 13"/>
          <p:cNvSpPr/>
          <p:nvPr/>
        </p:nvSpPr>
        <p:spPr>
          <a:xfrm>
            <a:off x="9444186" y="2628900"/>
            <a:ext cx="144818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6330315" y="2628900"/>
            <a:ext cx="10813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1280px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444186" y="3857625"/>
            <a:ext cx="7891314" cy="9525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18" name="Text 16"/>
          <p:cNvSpPr/>
          <p:nvPr/>
        </p:nvSpPr>
        <p:spPr>
          <a:xfrm>
            <a:off x="9444186" y="3324225"/>
            <a:ext cx="225593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rhythm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5871329" y="3324225"/>
            <a:ext cx="161058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 → 96px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444186" y="4552950"/>
            <a:ext cx="7891314" cy="9525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21" name="Text 19"/>
          <p:cNvSpPr/>
          <p:nvPr/>
        </p:nvSpPr>
        <p:spPr>
          <a:xfrm>
            <a:off x="9444186" y="4057650"/>
            <a:ext cx="201249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grids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5140434" y="4057650"/>
            <a:ext cx="2414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3-up · 24px gap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444186" y="4752975"/>
            <a:ext cx="176267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Breakpoints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5104566" y="4752975"/>
            <a:ext cx="245402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640 · 768 · 1024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81125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Motion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628900"/>
            <a:ext cx="16383000" cy="866775"/>
          </a:xfrm>
          <a:prstGeom prst="roundRect">
            <a:avLst>
              <a:gd name="adj" fmla="val 17582"/>
            </a:avLst>
          </a:prstGeom>
          <a:solidFill>
            <a:srgbClr val="F59F0A"/>
          </a:solidFill>
          <a:ln/>
        </p:spPr>
      </p:sp>
      <p:sp>
        <p:nvSpPr>
          <p:cNvPr id="5" name="Text 3"/>
          <p:cNvSpPr/>
          <p:nvPr/>
        </p:nvSpPr>
        <p:spPr>
          <a:xfrm>
            <a:off x="-3407818" y="2857500"/>
            <a:ext cx="6091684" cy="4476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1,000+ Homes Purchased Nationwide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892077" y="2857500"/>
            <a:ext cx="173385" cy="4476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751262" y="2857500"/>
            <a:ext cx="1981557" cy="4476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7-Day Close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314677" y="2857500"/>
            <a:ext cx="173385" cy="4476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73862" y="2857500"/>
            <a:ext cx="1249561" cy="4476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 Fees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09223" y="2857500"/>
            <a:ext cx="173385" cy="4476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968408" y="2857500"/>
            <a:ext cx="2222376" cy="4476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A+ BBB Rated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750750" y="2857500"/>
            <a:ext cx="173385" cy="4476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609934" y="2857500"/>
            <a:ext cx="2023795" cy="4476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4.7★ Google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211748" y="2857500"/>
            <a:ext cx="173385" cy="4476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070932" y="2857500"/>
            <a:ext cx="6091684" cy="4476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1,000+ Homes Purchased Nationwide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3370827" y="2857500"/>
            <a:ext cx="173385" cy="4476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4230012" y="2857500"/>
            <a:ext cx="1981557" cy="4476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7-Day Close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6793427" y="2857500"/>
            <a:ext cx="173385" cy="4476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7652612" y="2857500"/>
            <a:ext cx="1249561" cy="4476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 Fees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9587973" y="2857500"/>
            <a:ext cx="173385" cy="4476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0447158" y="2857500"/>
            <a:ext cx="2222376" cy="4476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A+ BBB Rated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3229500" y="2857500"/>
            <a:ext cx="173385" cy="4476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4088684" y="2857500"/>
            <a:ext cx="2023795" cy="4476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4.7★ Google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6576000" y="2857500"/>
            <a:ext cx="173385" cy="4476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52500" y="3914775"/>
            <a:ext cx="3924300" cy="2322016"/>
          </a:xfrm>
          <a:prstGeom prst="roundRect">
            <a:avLst>
              <a:gd name="adj" fmla="val 656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04925" y="4267200"/>
            <a:ext cx="35413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fade-in-up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304925" y="4724400"/>
            <a:ext cx="3316034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412"/>
              </a:lnSpc>
              <a:buNone/>
            </a:pPr>
            <a:r>
              <a:rPr lang="en-US" sz="2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0.6s ease-out · 20px rise, opacity 0→1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5105400" y="3914775"/>
            <a:ext cx="3924300" cy="2322016"/>
          </a:xfrm>
          <a:prstGeom prst="roundRect">
            <a:avLst>
              <a:gd name="adj" fmla="val 656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57825" y="4267200"/>
            <a:ext cx="35413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ticker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5457825" y="4724400"/>
            <a:ext cx="3316034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412"/>
              </a:lnSpc>
              <a:buNone/>
            </a:pPr>
            <a:r>
              <a:rPr lang="en-US" sz="2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30s linear infinite · items duplicated for a seamless loop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9258300" y="3914775"/>
            <a:ext cx="3924300" cy="2322016"/>
          </a:xfrm>
          <a:prstGeom prst="roundRect">
            <a:avLst>
              <a:gd name="adj" fmla="val 656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10725" y="4267200"/>
            <a:ext cx="35413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accordion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9610725" y="4724400"/>
            <a:ext cx="3316034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412"/>
              </a:lnSpc>
              <a:buNone/>
            </a:pPr>
            <a:r>
              <a:rPr lang="en-US" sz="2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0.2s ease-out height · chevron rotates 180°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3411200" y="3914775"/>
            <a:ext cx="3924300" cy="2322016"/>
          </a:xfrm>
          <a:prstGeom prst="roundRect">
            <a:avLst>
              <a:gd name="adj" fmla="val 656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63625" y="4267200"/>
            <a:ext cx="35413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transitions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3763625" y="4724400"/>
            <a:ext cx="3316034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412"/>
              </a:lnSpc>
              <a:buNone/>
            </a:pPr>
            <a:r>
              <a:rPr lang="en-US" sz="2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150ms hovers · 300ms chrome · brightness 1.25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81125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Iconography</a:t>
            </a:r>
            <a:endParaRPr lang="en-US" sz="5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1188" y="3238500"/>
            <a:ext cx="304800" cy="30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2500" y="3695700"/>
            <a:ext cx="13443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16px inline</a:t>
            </a:r>
            <a:endParaRPr lang="en-US" sz="1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52924" y="3162300"/>
            <a:ext cx="381000" cy="381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84277" y="3695700"/>
            <a:ext cx="11944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20px lists</a:t>
            </a:r>
            <a:endParaRPr lang="en-US" sz="1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55989" y="3086100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12171" y="3695700"/>
            <a:ext cx="169948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24px chrome</a:t>
            </a:r>
            <a:endParaRPr lang="en-US" sz="1950" dirty="0"/>
          </a:p>
        </p:txBody>
      </p:sp>
      <p:sp>
        <p:nvSpPr>
          <p:cNvPr id="10" name="Shape 5"/>
          <p:cNvSpPr/>
          <p:nvPr/>
        </p:nvSpPr>
        <p:spPr>
          <a:xfrm>
            <a:off x="7225605" y="2781300"/>
            <a:ext cx="762000" cy="762000"/>
          </a:xfrm>
          <a:prstGeom prst="ellipse">
            <a:avLst/>
          </a:prstGeom>
          <a:solidFill>
            <a:srgbClr val="F59F0A">
              <a:alpha val="10000"/>
            </a:srgbClr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16105" y="2971800"/>
            <a:ext cx="381000" cy="381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66756" y="3695700"/>
            <a:ext cx="20678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amber/10% disc</a:t>
            </a:r>
            <a:endParaRPr lang="en-US" sz="1950" dirty="0"/>
          </a:p>
        </p:txBody>
      </p:sp>
      <p:sp>
        <p:nvSpPr>
          <p:cNvPr id="13" name="Shape 7"/>
          <p:cNvSpPr/>
          <p:nvPr/>
        </p:nvSpPr>
        <p:spPr>
          <a:xfrm>
            <a:off x="9459664" y="2628900"/>
            <a:ext cx="914400" cy="914400"/>
          </a:xfrm>
          <a:prstGeom prst="ellipse">
            <a:avLst/>
          </a:prstGeom>
          <a:solidFill>
            <a:srgbClr val="F59F0A"/>
          </a:solidFill>
          <a:ln/>
        </p:spPr>
      </p:sp>
      <p:sp>
        <p:nvSpPr>
          <p:cNvPr id="14" name="Text 8"/>
          <p:cNvSpPr/>
          <p:nvPr/>
        </p:nvSpPr>
        <p:spPr>
          <a:xfrm>
            <a:off x="9421564" y="2628900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3300" dirty="0"/>
          </a:p>
        </p:txBody>
      </p:sp>
      <p:sp>
        <p:nvSpPr>
          <p:cNvPr id="15" name="Text 9"/>
          <p:cNvSpPr/>
          <p:nvPr/>
        </p:nvSpPr>
        <p:spPr>
          <a:xfrm>
            <a:off x="9156204" y="3695700"/>
            <a:ext cx="16736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numeral</a:t>
            </a:r>
            <a:endParaRPr lang="en-US" sz="1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38062" y="3162300"/>
            <a:ext cx="381000" cy="3810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287274" y="3695700"/>
            <a:ext cx="11587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filled star</a:t>
            </a:r>
            <a:endParaRPr lang="en-US" sz="1950" dirty="0"/>
          </a:p>
        </p:txBody>
      </p:sp>
      <p:sp>
        <p:nvSpPr>
          <p:cNvPr id="18" name="Text 11"/>
          <p:cNvSpPr/>
          <p:nvPr/>
        </p:nvSpPr>
        <p:spPr>
          <a:xfrm>
            <a:off x="952500" y="4410075"/>
            <a:ext cx="147161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use: Star, Play, Phone, MessageCircle, Send, Shield, CheckCircle, Home, Menu, X, ChevronDown, ChevronUp, ArrowRight, Scale, Building2, FileCheck.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9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00513"/>
            <a:ext cx="180213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48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TWO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52500" y="4738688"/>
            <a:ext cx="1802130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609"/>
              </a:lnSpc>
              <a:buNone/>
            </a:pPr>
            <a:r>
              <a:rPr lang="en-US" sz="11400" b="1" spc="-34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Components</a:t>
            </a:r>
            <a:endParaRPr lang="en-US" sz="1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81125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657475"/>
            <a:ext cx="4771430" cy="885825"/>
          </a:xfrm>
          <a:prstGeom prst="roundRect">
            <a:avLst>
              <a:gd name="adj" fmla="val 17204"/>
            </a:avLst>
          </a:prstGeom>
          <a:solidFill>
            <a:srgbClr val="F59F0A"/>
          </a:solidFill>
          <a:ln/>
          <a:effectLst>
            <a:outerShdw sx="100000" sy="100000" kx="0" ky="0" algn="bl" rotWithShape="0" blurRad="285750" dist="50800" dir="16200000">
              <a:srgbClr val="F59F0A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47800" y="2947988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05000" y="2905125"/>
            <a:ext cx="342333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(949) 295-2842</a:t>
            </a:r>
            <a:endParaRPr lang="en-US" sz="2550" dirty="0"/>
          </a:p>
        </p:txBody>
      </p:sp>
      <p:sp>
        <p:nvSpPr>
          <p:cNvPr id="7" name="Shape 4"/>
          <p:cNvSpPr/>
          <p:nvPr/>
        </p:nvSpPr>
        <p:spPr>
          <a:xfrm>
            <a:off x="5990630" y="2628900"/>
            <a:ext cx="4601319" cy="942975"/>
          </a:xfrm>
          <a:prstGeom prst="roundRect">
            <a:avLst>
              <a:gd name="adj" fmla="val 16162"/>
            </a:avLst>
          </a:prstGeom>
          <a:ln w="28575">
            <a:solidFill>
              <a:srgbClr val="F59F0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4505" y="2947988"/>
            <a:ext cx="304800" cy="304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71705" y="2905125"/>
            <a:ext cx="31892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(866) 407-3411</a:t>
            </a:r>
            <a:endParaRPr lang="en-US" sz="2550" dirty="0"/>
          </a:p>
        </p:txBody>
      </p:sp>
      <p:sp>
        <p:nvSpPr>
          <p:cNvPr id="10" name="Shape 6"/>
          <p:cNvSpPr/>
          <p:nvPr/>
        </p:nvSpPr>
        <p:spPr>
          <a:xfrm>
            <a:off x="952500" y="4000500"/>
            <a:ext cx="1529209" cy="628650"/>
          </a:xfrm>
          <a:prstGeom prst="roundRect">
            <a:avLst>
              <a:gd name="adj" fmla="val 18182"/>
            </a:avLst>
          </a:prstGeom>
          <a:solidFill>
            <a:srgbClr val="F59F0A"/>
          </a:solidFill>
          <a:ln/>
        </p:spPr>
      </p:sp>
      <p:sp>
        <p:nvSpPr>
          <p:cNvPr id="11" name="Text 7"/>
          <p:cNvSpPr/>
          <p:nvPr/>
        </p:nvSpPr>
        <p:spPr>
          <a:xfrm>
            <a:off x="1257300" y="4152900"/>
            <a:ext cx="99580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2672209" y="3990975"/>
            <a:ext cx="1536055" cy="647700"/>
          </a:xfrm>
          <a:prstGeom prst="roundRect">
            <a:avLst>
              <a:gd name="adj" fmla="val 17647"/>
            </a:avLst>
          </a:prstGeom>
          <a:ln w="9525">
            <a:solidFill>
              <a:srgbClr val="2E2E2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986534" y="4152900"/>
            <a:ext cx="9836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Outline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4398764" y="4000500"/>
            <a:ext cx="1991023" cy="628650"/>
          </a:xfrm>
          <a:prstGeom prst="roundRect">
            <a:avLst>
              <a:gd name="adj" fmla="val 18182"/>
            </a:avLst>
          </a:prstGeom>
          <a:solidFill>
            <a:srgbClr val="262626"/>
          </a:solidFill>
          <a:ln/>
        </p:spPr>
      </p:sp>
      <p:sp>
        <p:nvSpPr>
          <p:cNvPr id="15" name="Text 11"/>
          <p:cNvSpPr/>
          <p:nvPr/>
        </p:nvSpPr>
        <p:spPr>
          <a:xfrm>
            <a:off x="4703564" y="4152900"/>
            <a:ext cx="145762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6885087" y="4152900"/>
            <a:ext cx="83150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Ghost</a:t>
            </a:r>
            <a:endParaRPr lang="en-US" sz="2100" dirty="0"/>
          </a:p>
        </p:txBody>
      </p:sp>
      <p:sp>
        <p:nvSpPr>
          <p:cNvPr id="17" name="Shape 13"/>
          <p:cNvSpPr/>
          <p:nvPr/>
        </p:nvSpPr>
        <p:spPr>
          <a:xfrm>
            <a:off x="8135689" y="4000500"/>
            <a:ext cx="2073473" cy="628650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/>
        </p:spPr>
      </p:sp>
      <p:sp>
        <p:nvSpPr>
          <p:cNvPr id="18" name="Text 14"/>
          <p:cNvSpPr/>
          <p:nvPr/>
        </p:nvSpPr>
        <p:spPr>
          <a:xfrm>
            <a:off x="8440489" y="4152900"/>
            <a:ext cx="154007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Destructive</a:t>
            </a:r>
            <a:endParaRPr lang="en-US" sz="2100" dirty="0"/>
          </a:p>
        </p:txBody>
      </p:sp>
      <p:sp>
        <p:nvSpPr>
          <p:cNvPr id="19" name="Shape 15"/>
          <p:cNvSpPr/>
          <p:nvPr/>
        </p:nvSpPr>
        <p:spPr>
          <a:xfrm>
            <a:off x="10399663" y="4000500"/>
            <a:ext cx="1718072" cy="628650"/>
          </a:xfrm>
          <a:prstGeom prst="roundRect">
            <a:avLst>
              <a:gd name="adj" fmla="val 18182"/>
            </a:avLst>
          </a:prstGeom>
          <a:solidFill>
            <a:srgbClr val="F59F0A">
              <a:alpha val="50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10704463" y="4152900"/>
            <a:ext cx="118467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Disabled</a:t>
            </a:r>
            <a:endParaRPr lang="en-US" sz="2100" dirty="0"/>
          </a:p>
        </p:txBody>
      </p:sp>
      <p:sp>
        <p:nvSpPr>
          <p:cNvPr id="21" name="Text 17"/>
          <p:cNvSpPr/>
          <p:nvPr/>
        </p:nvSpPr>
        <p:spPr>
          <a:xfrm>
            <a:off x="952500" y="5057775"/>
            <a:ext cx="1687449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CTA: 32px × 16px padding, 18px bold, 12px radius, amber glow. Hover is </a:t>
            </a:r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brightness 1.25 </a:t>
            </a:r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never a scale or shadow change.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81125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Forms &amp; inputs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628900"/>
            <a:ext cx="8001000" cy="3886200"/>
          </a:xfrm>
          <a:prstGeom prst="roundRect">
            <a:avLst>
              <a:gd name="adj" fmla="val 5882"/>
            </a:avLst>
          </a:prstGeom>
          <a:solidFill>
            <a:srgbClr val="0A0A0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81125" y="3057525"/>
            <a:ext cx="78581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INFORMATION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381125" y="3609975"/>
            <a:ext cx="7143750" cy="742950"/>
          </a:xfrm>
          <a:prstGeom prst="roundRect">
            <a:avLst>
              <a:gd name="adj" fmla="val 20513"/>
            </a:avLst>
          </a:prstGeom>
          <a:solidFill>
            <a:srgbClr val="262626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57350" y="3619500"/>
            <a:ext cx="6805613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first name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381125" y="4581525"/>
            <a:ext cx="7143750" cy="742950"/>
          </a:xfrm>
          <a:prstGeom prst="roundRect">
            <a:avLst>
              <a:gd name="adj" fmla="val 20513"/>
            </a:avLst>
          </a:prstGeom>
          <a:solidFill>
            <a:srgbClr val="262626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57350" y="4591050"/>
            <a:ext cx="6805613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(555) 123-4567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3467100" y="5553075"/>
            <a:ext cx="533400" cy="533400"/>
          </a:xfrm>
          <a:prstGeom prst="ellipse">
            <a:avLst/>
          </a:prstGeom>
          <a:solidFill>
            <a:srgbClr val="F59F0A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55530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114800" y="5805488"/>
            <a:ext cx="457200" cy="28575"/>
          </a:xfrm>
          <a:prstGeom prst="rect">
            <a:avLst/>
          </a:prstGeom>
          <a:solidFill>
            <a:srgbClr val="F59F0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86300" y="5553075"/>
            <a:ext cx="533400" cy="533400"/>
          </a:xfrm>
          <a:prstGeom prst="ellipse">
            <a:avLst/>
          </a:prstGeom>
          <a:solidFill>
            <a:srgbClr val="F59F0A"/>
          </a:solidFill>
          <a:ln/>
        </p:spPr>
      </p:sp>
      <p:sp>
        <p:nvSpPr>
          <p:cNvPr id="14" name="Text 12"/>
          <p:cNvSpPr/>
          <p:nvPr/>
        </p:nvSpPr>
        <p:spPr>
          <a:xfrm>
            <a:off x="4648200" y="55530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5334000" y="5805488"/>
            <a:ext cx="457200" cy="28575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05500" y="5553075"/>
            <a:ext cx="533400" cy="533400"/>
          </a:xfrm>
          <a:prstGeom prst="ellipse">
            <a:avLst/>
          </a:prstGeom>
          <a:solidFill>
            <a:srgbClr val="26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5867400" y="55530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334500" y="3190875"/>
            <a:ext cx="8001000" cy="9525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19" name="Text 17"/>
          <p:cNvSpPr/>
          <p:nvPr/>
        </p:nvSpPr>
        <p:spPr>
          <a:xfrm>
            <a:off x="9334500" y="2628900"/>
            <a:ext cx="188414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height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328874" y="2628900"/>
            <a:ext cx="330728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48px · address 56px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334500" y="4029075"/>
            <a:ext cx="8001000" cy="9525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22" name="Text 20"/>
          <p:cNvSpPr/>
          <p:nvPr/>
        </p:nvSpPr>
        <p:spPr>
          <a:xfrm>
            <a:off x="9334500" y="3467100"/>
            <a:ext cx="47758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Fill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4427547" y="3467100"/>
            <a:ext cx="319874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+ border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334500" y="4867275"/>
            <a:ext cx="8001000" cy="9525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25" name="Text 23"/>
          <p:cNvSpPr/>
          <p:nvPr/>
        </p:nvSpPr>
        <p:spPr>
          <a:xfrm>
            <a:off x="9334500" y="4305300"/>
            <a:ext cx="140562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size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4205942" y="4305300"/>
            <a:ext cx="34425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16px — never smaller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334500" y="5743575"/>
            <a:ext cx="8001000" cy="9525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28" name="Text 26"/>
          <p:cNvSpPr/>
          <p:nvPr/>
        </p:nvSpPr>
        <p:spPr>
          <a:xfrm>
            <a:off x="9334500" y="5143500"/>
            <a:ext cx="89371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Steps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3696355" y="5143500"/>
            <a:ext cx="400306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→ Info → Details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334500" y="6019800"/>
            <a:ext cx="824103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SMS consent, privacy and terms copy is fixed legal text at 10px. Never rewrite, shorten or restyle it.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81125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Cards &amp; trust marks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628900"/>
            <a:ext cx="5283101" cy="3190875"/>
          </a:xfrm>
          <a:prstGeom prst="roundRect">
            <a:avLst>
              <a:gd name="adj" fmla="val 477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81125" y="3057525"/>
            <a:ext cx="486843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card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81125" y="3638550"/>
            <a:ext cx="455862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fill · 1px border · 12px radius · 24px padding. No shadow.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502301" y="2628900"/>
            <a:ext cx="5283250" cy="3190875"/>
          </a:xfrm>
          <a:prstGeom prst="roundRect">
            <a:avLst>
              <a:gd name="adj" fmla="val 477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62851" y="3057525"/>
            <a:ext cx="762000" cy="762000"/>
          </a:xfrm>
          <a:prstGeom prst="ellipse">
            <a:avLst/>
          </a:prstGeom>
          <a:solidFill>
            <a:srgbClr val="F59F0A">
              <a:alpha val="10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53351" y="3248025"/>
            <a:ext cx="381000" cy="381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336265" y="4010025"/>
            <a:ext cx="161517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Icon card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6864536" y="4591050"/>
            <a:ext cx="455878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Centered, amber/10% disc, used in the guarantee grid.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12052250" y="2628900"/>
            <a:ext cx="5283250" cy="3190875"/>
          </a:xfrm>
          <a:prstGeom prst="roundRect">
            <a:avLst>
              <a:gd name="adj" fmla="val 477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80875" y="3057525"/>
            <a:ext cx="342900" cy="34290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861875" y="3057525"/>
            <a:ext cx="342900" cy="34290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242875" y="3057525"/>
            <a:ext cx="342900" cy="342900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623875" y="3057525"/>
            <a:ext cx="342900" cy="34290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004875" y="3057525"/>
            <a:ext cx="342900" cy="3429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2480875" y="3590925"/>
            <a:ext cx="48686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row</a:t>
            </a:r>
            <a:endParaRPr lang="en-US" sz="2550" dirty="0"/>
          </a:p>
        </p:txBody>
      </p:sp>
      <p:sp>
        <p:nvSpPr>
          <p:cNvPr id="19" name="Text 11"/>
          <p:cNvSpPr/>
          <p:nvPr/>
        </p:nvSpPr>
        <p:spPr>
          <a:xfrm>
            <a:off x="12480875" y="4171950"/>
            <a:ext cx="455878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4.7 Google · A+ BBB · 1,000+ Homes Purchased · As Seen on HGTV</a:t>
            </a:r>
            <a:endParaRPr lang="en-US" sz="2100" dirty="0"/>
          </a:p>
        </p:txBody>
      </p:sp>
      <p:sp>
        <p:nvSpPr>
          <p:cNvPr id="20" name="Text 12"/>
          <p:cNvSpPr/>
          <p:nvPr/>
        </p:nvSpPr>
        <p:spPr>
          <a:xfrm>
            <a:off x="952500" y="6238875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Ratings and closing counts come from </a:t>
            </a:r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market.stats</a:t>
            </a:r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phone numbers from </a:t>
            </a:r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</a:t>
            </a:r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Never hardcode either.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81125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Disclosure, badges &amp; feedback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4591050"/>
            <a:ext cx="8382000" cy="9525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95600"/>
            <a:ext cx="563165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fast can you actually close?</a:t>
            </a:r>
            <a:endParaRPr lang="en-US" sz="2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29700" y="2938463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500" y="3438525"/>
            <a:ext cx="86334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state — answer at body size in muted. Chevron rotates 180°.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952500" y="5524500"/>
            <a:ext cx="8382000" cy="9525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9" name="Text 6"/>
          <p:cNvSpPr/>
          <p:nvPr/>
        </p:nvSpPr>
        <p:spPr>
          <a:xfrm>
            <a:off x="952500" y="4867275"/>
            <a:ext cx="594483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I pay any fees or commissions?</a:t>
            </a:r>
            <a:endParaRPr lang="en-US" sz="2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9700" y="4910138"/>
            <a:ext cx="304800" cy="30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52500" y="5800725"/>
            <a:ext cx="43008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Will my neighbors know?</a:t>
            </a:r>
            <a:endParaRPr lang="en-US" sz="25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9700" y="5843588"/>
            <a:ext cx="304800" cy="3048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715500" y="2638425"/>
            <a:ext cx="1323975" cy="447675"/>
          </a:xfrm>
          <a:prstGeom prst="roundRect">
            <a:avLst>
              <a:gd name="adj" fmla="val 50000"/>
            </a:avLst>
          </a:prstGeom>
          <a:solidFill>
            <a:srgbClr val="F59F0A"/>
          </a:solidFill>
          <a:ln/>
        </p:spPr>
      </p:sp>
      <p:sp>
        <p:nvSpPr>
          <p:cNvPr id="14" name="Text 9"/>
          <p:cNvSpPr/>
          <p:nvPr/>
        </p:nvSpPr>
        <p:spPr>
          <a:xfrm>
            <a:off x="9944100" y="2714625"/>
            <a:ext cx="9429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</a:t>
            </a:r>
            <a:endParaRPr lang="en-US" sz="1950" dirty="0"/>
          </a:p>
        </p:txBody>
      </p:sp>
      <p:sp>
        <p:nvSpPr>
          <p:cNvPr id="15" name="Shape 10"/>
          <p:cNvSpPr/>
          <p:nvPr/>
        </p:nvSpPr>
        <p:spPr>
          <a:xfrm>
            <a:off x="11191875" y="2638425"/>
            <a:ext cx="1756023" cy="447675"/>
          </a:xfrm>
          <a:prstGeom prst="roundRect">
            <a:avLst>
              <a:gd name="adj" fmla="val 50000"/>
            </a:avLst>
          </a:prstGeom>
          <a:solidFill>
            <a:srgbClr val="262626"/>
          </a:solidFill>
          <a:ln/>
        </p:spPr>
      </p:sp>
      <p:sp>
        <p:nvSpPr>
          <p:cNvPr id="16" name="Text 11"/>
          <p:cNvSpPr/>
          <p:nvPr/>
        </p:nvSpPr>
        <p:spPr>
          <a:xfrm>
            <a:off x="11420475" y="2714625"/>
            <a:ext cx="1375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</a:t>
            </a:r>
            <a:endParaRPr lang="en-US" sz="1950" dirty="0"/>
          </a:p>
        </p:txBody>
      </p:sp>
      <p:sp>
        <p:nvSpPr>
          <p:cNvPr id="17" name="Shape 12"/>
          <p:cNvSpPr/>
          <p:nvPr/>
        </p:nvSpPr>
        <p:spPr>
          <a:xfrm>
            <a:off x="13100298" y="2638425"/>
            <a:ext cx="1839664" cy="447675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8" name="Text 13"/>
          <p:cNvSpPr/>
          <p:nvPr/>
        </p:nvSpPr>
        <p:spPr>
          <a:xfrm>
            <a:off x="13328898" y="2714625"/>
            <a:ext cx="14586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Destructive</a:t>
            </a:r>
            <a:endParaRPr lang="en-US" sz="1950" dirty="0"/>
          </a:p>
        </p:txBody>
      </p:sp>
      <p:sp>
        <p:nvSpPr>
          <p:cNvPr id="19" name="Shape 14"/>
          <p:cNvSpPr/>
          <p:nvPr/>
        </p:nvSpPr>
        <p:spPr>
          <a:xfrm>
            <a:off x="15092362" y="2628900"/>
            <a:ext cx="1333798" cy="466725"/>
          </a:xfrm>
          <a:prstGeom prst="roundRect">
            <a:avLst>
              <a:gd name="adj" fmla="val 50000"/>
            </a:avLst>
          </a:prstGeom>
          <a:ln w="9525">
            <a:solidFill>
              <a:srgbClr val="2E2E2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5330488" y="2714625"/>
            <a:ext cx="9337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Outline</a:t>
            </a:r>
            <a:endParaRPr lang="en-US" sz="1950" dirty="0"/>
          </a:p>
        </p:txBody>
      </p:sp>
      <p:sp>
        <p:nvSpPr>
          <p:cNvPr id="21" name="Shape 16"/>
          <p:cNvSpPr/>
          <p:nvPr/>
        </p:nvSpPr>
        <p:spPr>
          <a:xfrm>
            <a:off x="9715500" y="3362325"/>
            <a:ext cx="7620000" cy="1619250"/>
          </a:xfrm>
          <a:prstGeom prst="roundRect">
            <a:avLst>
              <a:gd name="adj" fmla="val 11765"/>
            </a:avLst>
          </a:prstGeom>
          <a:solidFill>
            <a:srgbClr val="0A0A0A"/>
          </a:solidFill>
          <a:ln w="9525">
            <a:solidFill>
              <a:srgbClr val="2E2E2E"/>
            </a:solidFill>
            <a:prstDash val="solid"/>
          </a:ln>
          <a:effectLst>
            <a:outerShdw sx="100000" sy="100000" kx="0" ky="0" algn="bl" rotWithShape="0" blurRad="381000" dist="190500" dir="5400000">
              <a:srgbClr val="000000">
                <a:alpha val="6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991725" y="3638550"/>
            <a:ext cx="647700" cy="647700"/>
          </a:xfrm>
          <a:prstGeom prst="ellipse">
            <a:avLst/>
          </a:prstGeom>
          <a:solidFill>
            <a:srgbClr val="F59F0A">
              <a:alpha val="10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3175" y="3810000"/>
            <a:ext cx="304800" cy="3048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829925" y="3638550"/>
            <a:ext cx="395132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home in Riverview sold for</a:t>
            </a:r>
            <a:endParaRPr lang="en-US" sz="2100" dirty="0"/>
          </a:p>
        </p:txBody>
      </p:sp>
      <p:sp>
        <p:nvSpPr>
          <p:cNvPr id="25" name="Text 19"/>
          <p:cNvSpPr/>
          <p:nvPr/>
        </p:nvSpPr>
        <p:spPr>
          <a:xfrm>
            <a:off x="10829925" y="4000500"/>
            <a:ext cx="395132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$285K</a:t>
            </a:r>
            <a:endParaRPr lang="en-US" sz="2550" dirty="0"/>
          </a:p>
        </p:txBody>
      </p:sp>
      <p:sp>
        <p:nvSpPr>
          <p:cNvPr id="26" name="Text 20"/>
          <p:cNvSpPr/>
          <p:nvPr/>
        </p:nvSpPr>
        <p:spPr>
          <a:xfrm>
            <a:off x="10829925" y="4429125"/>
            <a:ext cx="395132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weeks ago · Tampa Bay area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9715500" y="5248275"/>
            <a:ext cx="784860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toast: 15s delay, 5s visible, 30s between rotations, dismissible. Prices are per-market ranges — never specific sales.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9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100513"/>
            <a:ext cx="180213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48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THREE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52500" y="4738688"/>
            <a:ext cx="1802130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609"/>
              </a:lnSpc>
              <a:buNone/>
            </a:pPr>
            <a:r>
              <a:rPr lang="en-US" sz="11400" b="1" spc="-34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</a:t>
            </a:r>
            <a:endParaRPr lang="en-US" sz="1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81125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Testimonials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590800"/>
            <a:ext cx="5283101" cy="2971651"/>
          </a:xfrm>
          <a:prstGeom prst="roundRect">
            <a:avLst>
              <a:gd name="adj" fmla="val 5128"/>
            </a:avLst>
          </a:prstGeom>
          <a:solidFill>
            <a:srgbClr val="00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rcRect l="0" r="0" t="12501" b="12501"/>
          <a:stretch/>
        </p:blipFill>
        <p:spPr>
          <a:xfrm>
            <a:off x="952500" y="2590800"/>
            <a:ext cx="5283101" cy="29716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098750" y="3581251"/>
            <a:ext cx="990600" cy="990600"/>
          </a:xfrm>
          <a:prstGeom prst="ellipse">
            <a:avLst/>
          </a:prstGeom>
          <a:solidFill>
            <a:srgbClr val="F59F0A">
              <a:alpha val="90000"/>
            </a:srgbClr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3075" y="3867001"/>
            <a:ext cx="419100" cy="4191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502301" y="2590800"/>
            <a:ext cx="5283250" cy="2971800"/>
          </a:xfrm>
          <a:prstGeom prst="roundRect">
            <a:avLst>
              <a:gd name="adj" fmla="val 5128"/>
            </a:avLst>
          </a:prstGeom>
          <a:solidFill>
            <a:srgbClr val="000000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rcRect l="0" r="0" t="12500" b="12500"/>
          <a:stretch/>
        </p:blipFill>
        <p:spPr>
          <a:xfrm>
            <a:off x="6502301" y="2590800"/>
            <a:ext cx="5283250" cy="29718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648551" y="3581400"/>
            <a:ext cx="990600" cy="990600"/>
          </a:xfrm>
          <a:prstGeom prst="ellipse">
            <a:avLst/>
          </a:prstGeom>
          <a:solidFill>
            <a:srgbClr val="F59F0A">
              <a:alpha val="90000"/>
            </a:srgbClr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62876" y="3867150"/>
            <a:ext cx="419100" cy="41910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12052250" y="2590800"/>
            <a:ext cx="5283250" cy="2971800"/>
          </a:xfrm>
          <a:prstGeom prst="roundRect">
            <a:avLst>
              <a:gd name="adj" fmla="val 5128"/>
            </a:avLst>
          </a:prstGeom>
          <a:solidFill>
            <a:srgbClr val="000000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>
            <a:alphaModFix amt="80000"/>
          </a:blip>
          <a:srcRect l="0" r="0" t="12500" b="12500"/>
          <a:stretch/>
        </p:blipFill>
        <p:spPr>
          <a:xfrm>
            <a:off x="12052250" y="2590800"/>
            <a:ext cx="5283250" cy="297180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14198501" y="3581400"/>
            <a:ext cx="990600" cy="990600"/>
          </a:xfrm>
          <a:prstGeom prst="ellipse">
            <a:avLst/>
          </a:prstGeom>
          <a:solidFill>
            <a:srgbClr val="F59F0A">
              <a:alpha val="90000"/>
            </a:srgbClr>
          </a:solidFill>
          <a:ln/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512826" y="3867150"/>
            <a:ext cx="419100" cy="41910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952500" y="5943600"/>
            <a:ext cx="5283101" cy="3643908"/>
          </a:xfrm>
          <a:prstGeom prst="roundRect">
            <a:avLst>
              <a:gd name="adj" fmla="val 418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04925" y="6296025"/>
            <a:ext cx="285750" cy="285750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28775" y="6296025"/>
            <a:ext cx="285750" cy="285750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2625" y="6296025"/>
            <a:ext cx="285750" cy="285750"/>
          </a:xfrm>
          <a:prstGeom prst="rect">
            <a:avLst/>
          </a:prstGeom>
        </p:spPr>
      </p:pic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276475" y="6296025"/>
            <a:ext cx="285750" cy="285750"/>
          </a:xfrm>
          <a:prstGeom prst="rect">
            <a:avLst/>
          </a:prstGeom>
        </p:spPr>
      </p:pic>
      <p:pic>
        <p:nvPicPr>
          <p:cNvPr id="21" name="Image 10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600325" y="6296025"/>
            <a:ext cx="285750" cy="285750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1304925" y="6772275"/>
            <a:ext cx="4715598" cy="1691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47"/>
              </a:lnSpc>
              <a:buNone/>
            </a:pPr>
            <a:r>
              <a:rPr lang="en-US" sz="2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"Divorce situation, handled with complete privacy. No signs, no showings, no neighbors asking questions."</a:t>
            </a:r>
            <a:endParaRPr lang="en-US" sz="2100" dirty="0"/>
          </a:p>
        </p:txBody>
      </p:sp>
      <p:sp>
        <p:nvSpPr>
          <p:cNvPr id="23" name="Text 10"/>
          <p:cNvSpPr/>
          <p:nvPr/>
        </p:nvSpPr>
        <p:spPr>
          <a:xfrm>
            <a:off x="1304925" y="8615958"/>
            <a:ext cx="503607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Sandra K.</a:t>
            </a:r>
            <a:endParaRPr lang="en-US" sz="2100" dirty="0"/>
          </a:p>
        </p:txBody>
      </p:sp>
      <p:sp>
        <p:nvSpPr>
          <p:cNvPr id="24" name="Text 11"/>
          <p:cNvSpPr/>
          <p:nvPr/>
        </p:nvSpPr>
        <p:spPr>
          <a:xfrm>
            <a:off x="1304925" y="8958858"/>
            <a:ext cx="503607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Riverview</a:t>
            </a:r>
            <a:endParaRPr lang="en-US" sz="1800" dirty="0"/>
          </a:p>
        </p:txBody>
      </p:sp>
      <p:sp>
        <p:nvSpPr>
          <p:cNvPr id="25" name="Shape 12"/>
          <p:cNvSpPr/>
          <p:nvPr/>
        </p:nvSpPr>
        <p:spPr>
          <a:xfrm>
            <a:off x="6502301" y="5943600"/>
            <a:ext cx="5283250" cy="3643908"/>
          </a:xfrm>
          <a:prstGeom prst="roundRect">
            <a:avLst>
              <a:gd name="adj" fmla="val 418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854726" y="6296025"/>
            <a:ext cx="285750" cy="285750"/>
          </a:xfrm>
          <a:prstGeom prst="rect">
            <a:avLst/>
          </a:prstGeom>
        </p:spPr>
      </p:pic>
      <p:pic>
        <p:nvPicPr>
          <p:cNvPr id="27" name="Image 12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178576" y="6296025"/>
            <a:ext cx="285750" cy="285750"/>
          </a:xfrm>
          <a:prstGeom prst="rect">
            <a:avLst/>
          </a:prstGeom>
        </p:spPr>
      </p:pic>
      <p:pic>
        <p:nvPicPr>
          <p:cNvPr id="28" name="Image 13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502426" y="6296025"/>
            <a:ext cx="285750" cy="285750"/>
          </a:xfrm>
          <a:prstGeom prst="rect">
            <a:avLst/>
          </a:prstGeom>
        </p:spPr>
      </p:pic>
      <p:pic>
        <p:nvPicPr>
          <p:cNvPr id="29" name="Image 14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826276" y="6296025"/>
            <a:ext cx="285750" cy="285750"/>
          </a:xfrm>
          <a:prstGeom prst="rect">
            <a:avLst/>
          </a:prstGeom>
        </p:spPr>
      </p:pic>
      <p:pic>
        <p:nvPicPr>
          <p:cNvPr id="30" name="Image 15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150126" y="6296025"/>
            <a:ext cx="285750" cy="285750"/>
          </a:xfrm>
          <a:prstGeom prst="rect">
            <a:avLst/>
          </a:prstGeom>
        </p:spPr>
      </p:pic>
      <p:sp>
        <p:nvSpPr>
          <p:cNvPr id="31" name="Text 13"/>
          <p:cNvSpPr/>
          <p:nvPr/>
        </p:nvSpPr>
        <p:spPr>
          <a:xfrm>
            <a:off x="6854726" y="6772275"/>
            <a:ext cx="4715752" cy="1277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47"/>
              </a:lnSpc>
              <a:buNone/>
            </a:pPr>
            <a:r>
              <a:rPr lang="en-US" sz="2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"Sold in 8 days, avoided foreclosure. Tarek's team treated me like family, not a transaction."</a:t>
            </a:r>
            <a:endParaRPr lang="en-US" sz="2100" dirty="0"/>
          </a:p>
        </p:txBody>
      </p:sp>
      <p:sp>
        <p:nvSpPr>
          <p:cNvPr id="32" name="Text 14"/>
          <p:cNvSpPr/>
          <p:nvPr/>
        </p:nvSpPr>
        <p:spPr>
          <a:xfrm>
            <a:off x="6854726" y="8202662"/>
            <a:ext cx="50362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Maria S.</a:t>
            </a:r>
            <a:endParaRPr lang="en-US" sz="2100" dirty="0"/>
          </a:p>
        </p:txBody>
      </p:sp>
      <p:sp>
        <p:nvSpPr>
          <p:cNvPr id="33" name="Text 15"/>
          <p:cNvSpPr/>
          <p:nvPr/>
        </p:nvSpPr>
        <p:spPr>
          <a:xfrm>
            <a:off x="6854726" y="8545562"/>
            <a:ext cx="50362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Ybor City, Tampa</a:t>
            </a:r>
            <a:endParaRPr lang="en-US" sz="1800" dirty="0"/>
          </a:p>
        </p:txBody>
      </p:sp>
      <p:sp>
        <p:nvSpPr>
          <p:cNvPr id="34" name="Shape 16"/>
          <p:cNvSpPr/>
          <p:nvPr/>
        </p:nvSpPr>
        <p:spPr>
          <a:xfrm>
            <a:off x="12052250" y="5943600"/>
            <a:ext cx="5283250" cy="3643908"/>
          </a:xfrm>
          <a:prstGeom prst="roundRect">
            <a:avLst>
              <a:gd name="adj" fmla="val 418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pic>
        <p:nvPicPr>
          <p:cNvPr id="35" name="Image 16" descr="preencoded.png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2404675" y="6296025"/>
            <a:ext cx="285750" cy="285750"/>
          </a:xfrm>
          <a:prstGeom prst="rect">
            <a:avLst/>
          </a:prstGeom>
        </p:spPr>
      </p:pic>
      <p:pic>
        <p:nvPicPr>
          <p:cNvPr id="36" name="Image 17" descr="preencoded.png">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2728525" y="6296025"/>
            <a:ext cx="285750" cy="285750"/>
          </a:xfrm>
          <a:prstGeom prst="rect">
            <a:avLst/>
          </a:prstGeom>
        </p:spPr>
      </p:pic>
      <p:pic>
        <p:nvPicPr>
          <p:cNvPr id="37" name="Image 18" descr="preencoded.png">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3052375" y="6296025"/>
            <a:ext cx="285750" cy="285750"/>
          </a:xfrm>
          <a:prstGeom prst="rect">
            <a:avLst/>
          </a:prstGeom>
        </p:spPr>
      </p:pic>
      <p:pic>
        <p:nvPicPr>
          <p:cNvPr id="38" name="Image 19" descr="preencoded.png">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3376225" y="6296025"/>
            <a:ext cx="285750" cy="285750"/>
          </a:xfrm>
          <a:prstGeom prst="rect">
            <a:avLst/>
          </a:prstGeom>
        </p:spPr>
      </p:pic>
      <p:pic>
        <p:nvPicPr>
          <p:cNvPr id="39" name="Image 20" descr="preencoded.png">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3700075" y="6296025"/>
            <a:ext cx="285750" cy="285750"/>
          </a:xfrm>
          <a:prstGeom prst="rect">
            <a:avLst/>
          </a:prstGeom>
        </p:spPr>
      </p:pic>
      <p:sp>
        <p:nvSpPr>
          <p:cNvPr id="40" name="Text 17"/>
          <p:cNvSpPr/>
          <p:nvPr/>
        </p:nvSpPr>
        <p:spPr>
          <a:xfrm>
            <a:off x="12404675" y="6772275"/>
            <a:ext cx="4715752" cy="1277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47"/>
              </a:lnSpc>
              <a:buNone/>
            </a:pPr>
            <a:r>
              <a:rPr lang="en-US" sz="2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"Behind on payments, got fair cash offer in 24 hours. Closed in 9 days. Saved my credit."</a:t>
            </a:r>
            <a:endParaRPr lang="en-US" sz="2100" dirty="0"/>
          </a:p>
        </p:txBody>
      </p:sp>
      <p:sp>
        <p:nvSpPr>
          <p:cNvPr id="41" name="Text 18"/>
          <p:cNvSpPr/>
          <p:nvPr/>
        </p:nvSpPr>
        <p:spPr>
          <a:xfrm>
            <a:off x="12404675" y="8202662"/>
            <a:ext cx="50362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Debbie W.</a:t>
            </a:r>
            <a:endParaRPr lang="en-US" sz="2100" dirty="0"/>
          </a:p>
        </p:txBody>
      </p:sp>
      <p:sp>
        <p:nvSpPr>
          <p:cNvPr id="42" name="Text 19"/>
          <p:cNvSpPr/>
          <p:nvPr/>
        </p:nvSpPr>
        <p:spPr>
          <a:xfrm>
            <a:off x="12404675" y="8545562"/>
            <a:ext cx="50362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St. Petersburg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81125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 table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3495675"/>
            <a:ext cx="16383000" cy="19050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5" name="Text 3"/>
          <p:cNvSpPr/>
          <p:nvPr/>
        </p:nvSpPr>
        <p:spPr>
          <a:xfrm>
            <a:off x="5268664" y="2895600"/>
            <a:ext cx="405160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Tarek Buys Houses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646146" y="2895600"/>
            <a:ext cx="363204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Agent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616285" y="2895600"/>
            <a:ext cx="360904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Investors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4395788"/>
            <a:ext cx="16383000" cy="9525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9" name="Text 7"/>
          <p:cNvSpPr/>
          <p:nvPr/>
        </p:nvSpPr>
        <p:spPr>
          <a:xfrm>
            <a:off x="1181100" y="3781425"/>
            <a:ext cx="375299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268664" y="3781425"/>
            <a:ext cx="405160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7-14 days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646146" y="3781425"/>
            <a:ext cx="363204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90-180 days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3616285" y="3781425"/>
            <a:ext cx="360904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14-30 days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52500" y="5281613"/>
            <a:ext cx="16383000" cy="9525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14" name="Text 12"/>
          <p:cNvSpPr/>
          <p:nvPr/>
        </p:nvSpPr>
        <p:spPr>
          <a:xfrm>
            <a:off x="1181100" y="4672013"/>
            <a:ext cx="375299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Fees &amp; Commissions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5268664" y="4672013"/>
            <a:ext cx="405160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646146" y="4672013"/>
            <a:ext cx="363204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5-6% ($15K-$30K)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3616285" y="4672013"/>
            <a:ext cx="360904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Varies (hidden fees)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52500" y="6167438"/>
            <a:ext cx="16383000" cy="9525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19" name="Text 17"/>
          <p:cNvSpPr/>
          <p:nvPr/>
        </p:nvSpPr>
        <p:spPr>
          <a:xfrm>
            <a:off x="1181100" y="5557838"/>
            <a:ext cx="375299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Repairs Required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5268664" y="5557838"/>
            <a:ext cx="405160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— as-is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646146" y="5557838"/>
            <a:ext cx="363204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Usually required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3616285" y="5557838"/>
            <a:ext cx="360904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Sometimes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52500" y="7053263"/>
            <a:ext cx="16383000" cy="9525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24" name="Text 22"/>
          <p:cNvSpPr/>
          <p:nvPr/>
        </p:nvSpPr>
        <p:spPr>
          <a:xfrm>
            <a:off x="1181100" y="6443663"/>
            <a:ext cx="375299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Showings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5268664" y="6443663"/>
            <a:ext cx="405160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646146" y="6443663"/>
            <a:ext cx="363204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Dozens of strangers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3616285" y="6443663"/>
            <a:ext cx="360904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1-2 visits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181100" y="7329488"/>
            <a:ext cx="3752991" cy="385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You Deal With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5268664" y="7329488"/>
            <a:ext cx="4051606" cy="385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Tarek's personal team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9646146" y="7329488"/>
            <a:ext cx="3632043" cy="385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agent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3616285" y="7329488"/>
            <a:ext cx="3609049" cy="385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Unknown LLC</a:t>
            </a:r>
            <a:endParaRPr lang="en-US" sz="2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81125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&amp; proof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590800"/>
            <a:ext cx="3924300" cy="3512344"/>
          </a:xfrm>
          <a:prstGeom prst="roundRect">
            <a:avLst>
              <a:gd name="adj" fmla="val 433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71750" y="2943225"/>
            <a:ext cx="685800" cy="685800"/>
          </a:xfrm>
          <a:prstGeom prst="ellipse">
            <a:avLst/>
          </a:prstGeom>
          <a:solidFill>
            <a:srgbClr val="F59F0A">
              <a:alpha val="1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3200" y="3114675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57786" y="3800475"/>
            <a:ext cx="291372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Licensed &amp; Insured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256633" y="4314825"/>
            <a:ext cx="3316034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Licensed, bonded and insured in every state we operate in.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5105400" y="2590800"/>
            <a:ext cx="3924300" cy="3512344"/>
          </a:xfrm>
          <a:prstGeom prst="roundRect">
            <a:avLst>
              <a:gd name="adj" fmla="val 433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24650" y="2943225"/>
            <a:ext cx="685800" cy="685800"/>
          </a:xfrm>
          <a:prstGeom prst="ellipse">
            <a:avLst/>
          </a:prstGeom>
          <a:solidFill>
            <a:srgbClr val="F59F0A">
              <a:alpha val="1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96100" y="3114675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96826" y="3800475"/>
            <a:ext cx="25414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Third-Party Title</a:t>
            </a:r>
            <a:endParaRPr lang="en-US" sz="2250" dirty="0"/>
          </a:p>
        </p:txBody>
      </p:sp>
      <p:sp>
        <p:nvSpPr>
          <p:cNvPr id="13" name="Text 9"/>
          <p:cNvSpPr/>
          <p:nvPr/>
        </p:nvSpPr>
        <p:spPr>
          <a:xfrm>
            <a:off x="5409533" y="4314825"/>
            <a:ext cx="3316034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Closings handled by a state-licensed title company — never in-house.</a:t>
            </a:r>
            <a:endParaRPr lang="en-US" sz="1950" dirty="0"/>
          </a:p>
        </p:txBody>
      </p:sp>
      <p:sp>
        <p:nvSpPr>
          <p:cNvPr id="14" name="Shape 10"/>
          <p:cNvSpPr/>
          <p:nvPr/>
        </p:nvSpPr>
        <p:spPr>
          <a:xfrm>
            <a:off x="9258300" y="2590800"/>
            <a:ext cx="3924300" cy="3512344"/>
          </a:xfrm>
          <a:prstGeom prst="roundRect">
            <a:avLst>
              <a:gd name="adj" fmla="val 433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877550" y="2943225"/>
            <a:ext cx="685800" cy="685800"/>
          </a:xfrm>
          <a:prstGeom prst="ellipse">
            <a:avLst/>
          </a:prstGeom>
          <a:solidFill>
            <a:srgbClr val="F59F0A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49000" y="3114675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709242" y="3800475"/>
            <a:ext cx="30222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No-Obligation Offer</a:t>
            </a:r>
            <a:endParaRPr lang="en-US" sz="2250" dirty="0"/>
          </a:p>
        </p:txBody>
      </p:sp>
      <p:sp>
        <p:nvSpPr>
          <p:cNvPr id="18" name="Text 13"/>
          <p:cNvSpPr/>
          <p:nvPr/>
        </p:nvSpPr>
        <p:spPr>
          <a:xfrm>
            <a:off x="9562433" y="4314825"/>
            <a:ext cx="3316034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with zero obligation. You're never pressured to accept.</a:t>
            </a:r>
            <a:endParaRPr lang="en-US" sz="1950" dirty="0"/>
          </a:p>
        </p:txBody>
      </p:sp>
      <p:sp>
        <p:nvSpPr>
          <p:cNvPr id="19" name="Shape 14"/>
          <p:cNvSpPr/>
          <p:nvPr/>
        </p:nvSpPr>
        <p:spPr>
          <a:xfrm>
            <a:off x="13411200" y="2590800"/>
            <a:ext cx="3924300" cy="3512344"/>
          </a:xfrm>
          <a:prstGeom prst="roundRect">
            <a:avLst>
              <a:gd name="adj" fmla="val 433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5030450" y="2943225"/>
            <a:ext cx="685800" cy="685800"/>
          </a:xfrm>
          <a:prstGeom prst="ellipse">
            <a:avLst/>
          </a:prstGeom>
          <a:solidFill>
            <a:srgbClr val="F59F0A">
              <a:alpha val="10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201900" y="3114675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233594" y="3800475"/>
            <a:ext cx="22795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Confidentiality</a:t>
            </a:r>
            <a:endParaRPr lang="en-US" sz="2250" dirty="0"/>
          </a:p>
        </p:txBody>
      </p:sp>
      <p:sp>
        <p:nvSpPr>
          <p:cNvPr id="23" name="Text 17"/>
          <p:cNvSpPr/>
          <p:nvPr/>
        </p:nvSpPr>
        <p:spPr>
          <a:xfrm>
            <a:off x="13715333" y="4314825"/>
            <a:ext cx="3316034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yard signs, no MLS listing, no public record of a distressed sale.</a:t>
            </a:r>
            <a:endParaRPr lang="en-US" sz="1950" dirty="0"/>
          </a:p>
        </p:txBody>
      </p:sp>
      <p:sp>
        <p:nvSpPr>
          <p:cNvPr id="24" name="Shape 18"/>
          <p:cNvSpPr/>
          <p:nvPr/>
        </p:nvSpPr>
        <p:spPr>
          <a:xfrm>
            <a:off x="952500" y="6484144"/>
            <a:ext cx="16383000" cy="1590675"/>
          </a:xfrm>
          <a:prstGeom prst="roundRect">
            <a:avLst>
              <a:gd name="adj" fmla="val 9581"/>
            </a:avLst>
          </a:prstGeom>
          <a:solidFill>
            <a:srgbClr val="171C26"/>
          </a:solidFill>
          <a:ln/>
        </p:spPr>
      </p:sp>
      <p:sp>
        <p:nvSpPr>
          <p:cNvPr id="25" name="Text 19"/>
          <p:cNvSpPr/>
          <p:nvPr/>
        </p:nvSpPr>
        <p:spPr>
          <a:xfrm>
            <a:off x="7765852" y="6827044"/>
            <a:ext cx="303176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FEATURED ON</a:t>
            </a:r>
            <a:endParaRPr lang="en-US" sz="19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>
            <a:off x="8934450" y="7312819"/>
            <a:ext cx="4191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81125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Case-study panels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628900"/>
            <a:ext cx="5283101" cy="3348038"/>
          </a:xfrm>
          <a:prstGeom prst="roundRect">
            <a:avLst>
              <a:gd name="adj" fmla="val 6828"/>
            </a:avLst>
          </a:prstGeom>
          <a:solidFill>
            <a:srgbClr val="242424"/>
          </a:solidFill>
          <a:ln/>
        </p:spPr>
      </p:sp>
      <p:sp>
        <p:nvSpPr>
          <p:cNvPr id="5" name="Text 3"/>
          <p:cNvSpPr/>
          <p:nvPr/>
        </p:nvSpPr>
        <p:spPr>
          <a:xfrm>
            <a:off x="1409700" y="3086100"/>
            <a:ext cx="480557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EF43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09700" y="3638550"/>
            <a:ext cx="4805571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61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seller's situation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409700" y="4319588"/>
            <a:ext cx="449976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Neutral panel, hsl(0 0% 14%). Plain, non-alarmist language.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502301" y="2628900"/>
            <a:ext cx="5283250" cy="3348038"/>
          </a:xfrm>
          <a:prstGeom prst="roundRect">
            <a:avLst>
              <a:gd name="adj" fmla="val 6828"/>
            </a:avLst>
          </a:prstGeom>
          <a:solidFill>
            <a:srgbClr val="1E2929"/>
          </a:solidFill>
          <a:ln/>
        </p:spPr>
      </p:sp>
      <p:sp>
        <p:nvSpPr>
          <p:cNvPr id="9" name="Text 7"/>
          <p:cNvSpPr/>
          <p:nvPr/>
        </p:nvSpPr>
        <p:spPr>
          <a:xfrm>
            <a:off x="6959501" y="3086100"/>
            <a:ext cx="480573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16A2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959501" y="3638550"/>
            <a:ext cx="480573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61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outcome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959501" y="4319588"/>
            <a:ext cx="449991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Teal-tinted, hsl(180 15% 14%). Never a guaranteed price or day count.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052250" y="2628900"/>
            <a:ext cx="5283250" cy="3348038"/>
          </a:xfrm>
          <a:prstGeom prst="roundRect">
            <a:avLst>
              <a:gd name="adj" fmla="val 6828"/>
            </a:avLst>
          </a:prstGeom>
          <a:solidFill>
            <a:srgbClr val="291E1E"/>
          </a:solidFill>
          <a:ln/>
        </p:spPr>
      </p:sp>
      <p:sp>
        <p:nvSpPr>
          <p:cNvPr id="13" name="Text 11"/>
          <p:cNvSpPr/>
          <p:nvPr/>
        </p:nvSpPr>
        <p:spPr>
          <a:xfrm>
            <a:off x="12509450" y="3086100"/>
            <a:ext cx="4499915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261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happens if you wait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2509450" y="4219575"/>
            <a:ext cx="449991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Red-tinted, hsl(0 15% 14%). No eyebrow — the tint carries the warning.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3350" y="6396038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studies are illustrative composites. Individual results vary — required under every before/after block.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81125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Chrome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628900"/>
            <a:ext cx="16383000" cy="3851672"/>
          </a:xfrm>
          <a:prstGeom prst="roundRect">
            <a:avLst>
              <a:gd name="adj" fmla="val 3957"/>
            </a:avLst>
          </a:prstGeom>
          <a:ln w="9525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2025" y="2638425"/>
            <a:ext cx="16363950" cy="1114425"/>
          </a:xfrm>
          <a:prstGeom prst="rect">
            <a:avLst/>
          </a:prstGeom>
          <a:solidFill>
            <a:srgbClr val="0A0A0A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62025" y="3743325"/>
            <a:ext cx="1636395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225" y="2943225"/>
            <a:ext cx="1200596" cy="4953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96314" y="3028950"/>
            <a:ext cx="83537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974586" y="3028950"/>
            <a:ext cx="126652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Us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2584013" y="3028950"/>
            <a:ext cx="112752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Markets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4054435" y="3028950"/>
            <a:ext cx="109641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5493752" y="3028950"/>
            <a:ext cx="65112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Blog</a:t>
            </a:r>
            <a:endParaRPr lang="en-US" sz="2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87775" y="3000375"/>
            <a:ext cx="381000" cy="381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62025" y="3752850"/>
            <a:ext cx="16363950" cy="2718197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15" name="Shape 11"/>
          <p:cNvSpPr/>
          <p:nvPr/>
        </p:nvSpPr>
        <p:spPr>
          <a:xfrm>
            <a:off x="962025" y="3752850"/>
            <a:ext cx="1636395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225" y="4181475"/>
            <a:ext cx="1477714" cy="609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9225" y="4924425"/>
            <a:ext cx="7456170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Tarek Buys Houses is a real estate investment company that purchases homes directly from homeowners for cash.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1419225" y="5775722"/>
            <a:ext cx="7962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A3A3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Tarek El Moussa | CA DRE Lic# 01329011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9191625" y="4181475"/>
            <a:ext cx="84448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Nationwide Coverage* — 30+ Markets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9191625" y="4619625"/>
            <a:ext cx="790746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A3A3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Tampa Bay, FL · Phoenix Metro, AZ · Atlanta Metro, GA · rendered from MARKETS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9191625" y="5286375"/>
            <a:ext cx="84448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A3A3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Equal Housing Opportunity · Privacy · Terms · Do Not Sell My Info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952500" y="6899672"/>
            <a:ext cx="1687449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64px header: transparent at the top, </a:t>
            </a:r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background/50 + blur(24px) </a:t>
            </a:r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50px of scroll. Footer legal type runs 10–12px at 60–80% opacity.</a:t>
            </a:r>
            <a:endParaRPr lang="en-US" sz="2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81125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Long-form &amp; admin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628900"/>
            <a:ext cx="9334500" cy="5057775"/>
          </a:xfrm>
          <a:prstGeom prst="roundRect">
            <a:avLst>
              <a:gd name="adj" fmla="val 3013"/>
            </a:avLst>
          </a:prstGeom>
          <a:solidFill>
            <a:srgbClr val="0A0A0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9225" y="3095625"/>
            <a:ext cx="8653082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Selling a house during a divorce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419225" y="4638675"/>
            <a:ext cx="865308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copy is 18px at 1.7 in muted, with bold runs in white and links in amber.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419225" y="5781675"/>
            <a:ext cx="38100" cy="914400"/>
          </a:xfrm>
          <a:prstGeom prst="rect">
            <a:avLst/>
          </a:prstGeom>
          <a:solidFill>
            <a:srgbClr val="F59F0A"/>
          </a:solidFill>
          <a:ln/>
        </p:spPr>
      </p:sp>
      <p:sp>
        <p:nvSpPr>
          <p:cNvPr id="8" name="Text 6"/>
          <p:cNvSpPr/>
          <p:nvPr/>
        </p:nvSpPr>
        <p:spPr>
          <a:xfrm>
            <a:off x="1724025" y="5781675"/>
            <a:ext cx="834828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Blockquotes take an amber left rule — the only accent in the article body.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419225" y="6924675"/>
            <a:ext cx="92411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Article headings are 700, not 800 — the one place the site steps down.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668000" y="2628900"/>
            <a:ext cx="6667500" cy="4429125"/>
          </a:xfrm>
          <a:prstGeom prst="roundRect">
            <a:avLst>
              <a:gd name="adj" fmla="val 3441"/>
            </a:avLst>
          </a:prstGeom>
          <a:solidFill>
            <a:srgbClr val="0A0A0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77525" y="3543300"/>
            <a:ext cx="6648450" cy="9525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44225" y="2905125"/>
            <a:ext cx="70901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TBH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691342" y="2981325"/>
            <a:ext cx="7646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44225" y="3819525"/>
            <a:ext cx="63030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868025" y="4248150"/>
            <a:ext cx="6267450" cy="590550"/>
          </a:xfrm>
          <a:prstGeom prst="roundRect">
            <a:avLst>
              <a:gd name="adj" fmla="val 19355"/>
            </a:avLst>
          </a:prstGeom>
          <a:solidFill>
            <a:srgbClr val="262626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01375" y="4419600"/>
            <a:ext cx="247650" cy="2476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382375" y="4381500"/>
            <a:ext cx="128676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2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01375" y="5086350"/>
            <a:ext cx="247650" cy="24765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1382375" y="5048250"/>
            <a:ext cx="83894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</a:t>
            </a:r>
            <a:endParaRPr lang="en-US" sz="2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01375" y="5753100"/>
            <a:ext cx="247650" cy="2476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382375" y="5715000"/>
            <a:ext cx="168994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 Creatives</a:t>
            </a:r>
            <a:endParaRPr lang="en-US" sz="2100" dirty="0"/>
          </a:p>
        </p:txBody>
      </p:sp>
      <p:sp>
        <p:nvSpPr>
          <p:cNvPr id="22" name="Shape 17"/>
          <p:cNvSpPr/>
          <p:nvPr/>
        </p:nvSpPr>
        <p:spPr>
          <a:xfrm>
            <a:off x="10677525" y="6362700"/>
            <a:ext cx="6648450" cy="9525"/>
          </a:xfrm>
          <a:prstGeom prst="rect">
            <a:avLst/>
          </a:prstGeom>
          <a:solidFill>
            <a:srgbClr val="2E2E2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44225" y="6596063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306175" y="6562725"/>
            <a:ext cx="107974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Out</a:t>
            </a:r>
            <a:endParaRPr lang="en-US" sz="1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81125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&amp; don't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628900"/>
            <a:ext cx="8039100" cy="6515100"/>
          </a:xfrm>
          <a:prstGeom prst="roundRect">
            <a:avLst>
              <a:gd name="adj" fmla="val 2339"/>
            </a:avLst>
          </a:prstGeom>
          <a:solidFill>
            <a:srgbClr val="121212"/>
          </a:solidFill>
          <a:ln w="9525">
            <a:solidFill>
              <a:srgbClr val="16A249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81125" y="3057525"/>
            <a:ext cx="790003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A2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81125" y="3619500"/>
            <a:ext cx="739730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amber for actions, ratings and active states only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81125" y="4638675"/>
            <a:ext cx="739730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Alternate section backgrounds between background and card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81125" y="5657850"/>
            <a:ext cx="790003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Pair every CTA block with a text and a call option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81125" y="6262688"/>
            <a:ext cx="739730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Attribute quotes with first name, last initial and market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381125" y="7281863"/>
            <a:ext cx="739730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Lazy-load video — thumbnail facade first, iframe on click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381125" y="8301038"/>
            <a:ext cx="790003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consent, privacy and disclaimer copy verbatim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296400" y="2628900"/>
            <a:ext cx="8039100" cy="6515100"/>
          </a:xfrm>
          <a:prstGeom prst="roundRect">
            <a:avLst>
              <a:gd name="adj" fmla="val 2339"/>
            </a:avLst>
          </a:prstGeom>
          <a:solidFill>
            <a:srgbClr val="121212"/>
          </a:solidFill>
          <a:ln w="9525">
            <a:solidFill>
              <a:srgbClr val="EF4343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25025" y="3057525"/>
            <a:ext cx="790003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F43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725025" y="3619500"/>
            <a:ext cx="739730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 a second accent hue or a third surface tone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725025" y="4638675"/>
            <a:ext cx="739730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gradient panel backgrounds — gradients are for text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725025" y="5657850"/>
            <a:ext cx="739730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Put drop shadows on content cards; borders carry the depth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725025" y="6677025"/>
            <a:ext cx="739730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 font other than Inter, or go below 10px on legal copy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725025" y="7696200"/>
            <a:ext cx="790003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 guaranteed outcomes, prices or timelines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725025" y="8301038"/>
            <a:ext cx="790003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22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emoji or stock art in place of real seller photos</a:t>
            </a:r>
            <a:endParaRPr lang="en-US" sz="2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81125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known exception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3659981"/>
            <a:ext cx="7239000" cy="1000125"/>
          </a:xfrm>
          <a:prstGeom prst="roundRect">
            <a:avLst>
              <a:gd name="adj" fmla="val 19048"/>
            </a:avLst>
          </a:prstGeom>
          <a:solidFill>
            <a:srgbClr val="0A0A0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2025" y="3669506"/>
            <a:ext cx="7219950" cy="981075"/>
          </a:xfrm>
          <a:prstGeom prst="rect">
            <a:avLst/>
          </a:prstGeom>
          <a:gradFill rotWithShape="1">
            <a:gsLst>
              <a:gs pos="0">
                <a:srgbClr val="F59F0A">
                  <a:alpha val="100000"/>
                </a:srgbClr>
              </a:gs>
              <a:gs pos="100000">
                <a:srgbClr val="F97415">
                  <a:alpha val="100000"/>
                </a:srgbClr>
              </a:gs>
            </a:gsLst>
            <a:lin ang="0" scaled="0"/>
          </a:gra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12665" y="4017169"/>
            <a:ext cx="285750" cy="285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50815" y="3974306"/>
            <a:ext cx="379093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Your Free Cash Offer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648700" y="2628900"/>
            <a:ext cx="955548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Sticky mobile CTA (&lt;768px)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8648700" y="3248025"/>
            <a:ext cx="8947404" cy="180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bar and its in-form buttons use an amber→orange gradient with white text and 8px radii — unlike every other primary action, which is flat amber with black text at 12px. Its inputs sit on the background fill rather than secondary.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8648700" y="5248275"/>
            <a:ext cx="955548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b="1" dirty="0">
                <a:solidFill>
                  <a:srgbClr val="F59F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 it as legacy. Match the flat amber standard in new work.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2026-07-29T21:29:29Z</dcterms:created>
  <dcterms:modified xsi:type="dcterms:W3CDTF">2026-07-29T21:29:29Z</dcterms:modified>
</cp:coreProperties>
</file>